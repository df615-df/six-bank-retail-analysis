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六大行客户经营分析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88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9C46A"/>
                </a:solidFill>
                <a:latin typeface="Microsoft YaHei"/>
              </a:defRPr>
            </a:pPr>
            <a:r>
              <a:t>AUM越做越大，零售利润却分化：客户经理的价值从规模增长转向经营质量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CE6F0"/>
                </a:solidFill>
                <a:latin typeface="Microsoft YaHei"/>
              </a:defRPr>
            </a:pPr>
            <a:r>
              <a:t>飞土木 · 求职作品集 · 数据基于2025年年报/官方业绩发布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六大行零售基本盘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01 · 客户广度、AUM深度、数字渠道与资产质量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06040" cy="11430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23B56"/>
                </a:solidFill>
                <a:latin typeface="Microsoft YaHei"/>
              </a:defRPr>
            </a:pPr>
            <a:r>
              <a:t>114.92万亿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六大行零售AUM合计（约）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325880"/>
            <a:ext cx="2606040" cy="11430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4630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23B56"/>
                </a:solidFill>
                <a:latin typeface="Microsoft YaHei"/>
              </a:defRPr>
            </a:pPr>
            <a:r>
              <a:t>6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零售AUM全部正增长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325880"/>
            <a:ext cx="2606040" cy="11430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4630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23B56"/>
                </a:solidFill>
                <a:latin typeface="Microsoft YaHei"/>
              </a:defRPr>
            </a:pPr>
            <a:r>
              <a:t>4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零售利润负增长或近零增长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325880"/>
            <a:ext cx="2606040" cy="11430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14630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23B56"/>
                </a:solidFill>
                <a:latin typeface="Microsoft YaHei"/>
              </a:defRPr>
            </a:pPr>
            <a:r>
              <a:t>8.96亿户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农行个人客户数，同业第一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3B56"/>
                </a:solidFill>
                <a:latin typeface="Microsoft YaHei"/>
              </a:defRPr>
            </a:pPr>
            <a:r>
              <a:t>六家银行各有基本盘：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11201400" cy="4572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2841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工商银行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32841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7.82亿户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32841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25.37万亿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3284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+11.08%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2841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零售AUM第一；手机银行客户6.3亿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30752"/>
            <a:ext cx="11201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130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农业银行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8130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8.96亿户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81304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24.68万亿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8130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+10.77%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813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个人客户同业第一；县域月活1.3亿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15384"/>
            <a:ext cx="11201400" cy="4572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建设银行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2976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7.85亿人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2976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23.01万亿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2976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+11.75%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297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手机银行有资产客户4.41亿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00016"/>
            <a:ext cx="11201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823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中国银行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478231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超5.5亿户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78231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17.58万亿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78231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+11.48%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7823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个人消费贷同比+28.35%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84648"/>
            <a:ext cx="11201400" cy="4572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6694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邮储银行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526694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6.81亿户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526694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18.30万亿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526694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+9.64%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26694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不良率最低0.95%；客群下沉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669280"/>
            <a:ext cx="11201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75157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3B56"/>
                </a:solidFill>
                <a:latin typeface="Microsoft YaHei"/>
              </a:defRPr>
            </a:pPr>
            <a:r>
              <a:t>交通银行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" y="57515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D2B3A"/>
                </a:solidFill>
                <a:latin typeface="Microsoft YaHei"/>
              </a:defRPr>
            </a:pPr>
            <a:r>
              <a:t>约2.05亿户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575157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D2B3A"/>
                </a:solidFill>
                <a:latin typeface="Microsoft YaHei"/>
              </a:defRPr>
            </a:pPr>
            <a:r>
              <a:t>5.98万亿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60" y="575157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E7D5B"/>
                </a:solidFill>
                <a:latin typeface="Microsoft YaHei"/>
              </a:defRPr>
            </a:pPr>
            <a:r>
              <a:t>+8.91%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751576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手机银行月活5741万；买单吧2664万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零售AUM：工行、农行、建行组成20万亿俱乐部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02 · 规模是基础，但不代表利润质量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工商银行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581912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581912"/>
            <a:ext cx="6949440" cy="310896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554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25.37万亿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57984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农业银行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185416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2185416"/>
            <a:ext cx="6760432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15798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24.68万亿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建设银行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88920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788920"/>
            <a:ext cx="6302980" cy="310896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7614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23.01万亿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64992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邮储银行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392424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3392424"/>
            <a:ext cx="5012800" cy="310896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36499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18.30万亿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68496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中国银行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995928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3995928"/>
            <a:ext cx="4815575" cy="310896"/>
          </a:xfrm>
          <a:prstGeom prst="rect">
            <a:avLst/>
          </a:prstGeom>
          <a:solidFill>
            <a:srgbClr val="0F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396849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17.58万亿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72000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交通银行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4599432"/>
            <a:ext cx="6949440" cy="310896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4599432"/>
            <a:ext cx="1638062" cy="31089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45720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5.98万亿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6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C7A89"/>
                </a:solidFill>
                <a:latin typeface="Microsoft YaHei"/>
              </a:defRPr>
            </a:pPr>
            <a:r>
              <a:t>读法：工行AUM最高，农行客户最多，邮储用6.81亿客户做到18.30万亿，交通银行体量最小但增速仍有8.91%。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零售利润承压：规模增长不等于利润做优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03 · 2025年零售业务利润同比变化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邮储银行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-685800" y="1600200"/>
            <a:ext cx="7498079" cy="310896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433A"/>
                </a:solidFill>
                <a:latin typeface="Microsoft YaHei"/>
              </a:defRPr>
            </a:pPr>
            <a:r>
              <a:t>-47.35%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交通银行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9528" y="2258568"/>
            <a:ext cx="5662751" cy="310896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22585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433A"/>
                </a:solidFill>
                <a:latin typeface="Microsoft YaHei"/>
              </a:defRPr>
            </a:pPr>
            <a:r>
              <a:t>-35.76%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建设银行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9384" y="2916936"/>
            <a:ext cx="1722895" cy="310896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2916936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433A"/>
                </a:solidFill>
                <a:latin typeface="Microsoft YaHei"/>
              </a:defRPr>
            </a:pPr>
            <a:r>
              <a:t>-10.88%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75304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农业银行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8786" y="3575304"/>
            <a:ext cx="1203493" cy="310896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357530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433A"/>
                </a:solidFill>
                <a:latin typeface="Microsoft YaHei"/>
              </a:defRPr>
            </a:pPr>
            <a:r>
              <a:t>-7.60%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中国银行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4233672"/>
            <a:ext cx="12668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42336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7D5B"/>
                </a:solidFill>
                <a:latin typeface="Microsoft YaHei"/>
              </a:defRPr>
            </a:pPr>
            <a:r>
              <a:t>+0.08%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2B3A"/>
                </a:solidFill>
                <a:latin typeface="Microsoft YaHei"/>
              </a:defRPr>
            </a:pPr>
            <a:r>
              <a:t>工商银行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79" y="4892040"/>
            <a:ext cx="6907417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4892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E7D5B"/>
                </a:solidFill>
                <a:latin typeface="Microsoft YaHei"/>
              </a:defRPr>
            </a:pPr>
            <a:r>
              <a:t>+43.62%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79" y="1572768"/>
            <a:ext cx="15875" cy="3703320"/>
          </a:xfrm>
          <a:prstGeom prst="rect">
            <a:avLst/>
          </a:prstGeom>
          <a:solidFill>
            <a:srgbClr val="78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23B56"/>
                </a:solidFill>
                <a:latin typeface="Microsoft YaHei"/>
              </a:defRPr>
            </a:pPr>
            <a:r>
              <a:t>核心矛盾：客户愿意把AUM放在这里 ≠ 银行能从中赚到价值。存款定期化、代销结构、获客成本和风险成本决定利润质量。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客户数 × AUM：同时看广度和深度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04 · 规模大的行要防“低效规模”，规模小的行要抓户均提升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9504" y="1554480"/>
            <a:ext cx="12700" cy="36576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9464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1554480"/>
            <a:ext cx="12700" cy="36576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3952" y="1554480"/>
            <a:ext cx="12700" cy="36576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6176" y="1554480"/>
            <a:ext cx="12700" cy="36576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428308"/>
            <a:ext cx="8961120" cy="127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9114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644537"/>
            <a:ext cx="8961120" cy="127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507377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860765"/>
            <a:ext cx="8961120" cy="127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723605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076994"/>
            <a:ext cx="8961120" cy="12700"/>
          </a:xfrm>
          <a:prstGeom prst="rect">
            <a:avLst/>
          </a:prstGeom>
          <a:solidFill>
            <a:srgbClr val="D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93983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C7A89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18338" y="1711496"/>
            <a:ext cx="373075" cy="373075"/>
          </a:xfrm>
          <a:prstGeom prst="rect">
            <a:avLst/>
          </a:prstGeom>
          <a:solidFill>
            <a:srgbClr val="B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7755" y="1760873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工商银行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90" y="1804613"/>
            <a:ext cx="367106" cy="36710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9323" y="185100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农业银行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429" y="2029986"/>
            <a:ext cx="352660" cy="35266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4639" y="20691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建设银行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08895" y="2762784"/>
            <a:ext cx="305690" cy="305690"/>
          </a:xfrm>
          <a:prstGeom prst="rect">
            <a:avLst/>
          </a:prstGeom>
          <a:solidFill>
            <a:srgbClr val="0F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4620" y="277846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中国银行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3843" y="2665618"/>
            <a:ext cx="311918" cy="311918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2682" y="2684417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邮储银行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1636" y="4328248"/>
            <a:ext cx="205347" cy="205347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7189" y="429376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D2B3A"/>
                </a:solidFill>
                <a:latin typeface="Microsoft YaHei"/>
              </a:defRPr>
            </a:pPr>
            <a:r>
              <a:t>交通银行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3218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个人客户数（亿户）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" y="32004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C7A89"/>
                </a:solidFill>
                <a:latin typeface="Microsoft YaHei"/>
              </a:defRPr>
            </a:pPr>
            <a:r>
              <a:t>零售AUM（万亿元）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5760720"/>
            <a:ext cx="10149840" cy="77724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870448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23B56"/>
                </a:solidFill>
                <a:latin typeface="Microsoft YaHei"/>
              </a:defRPr>
            </a:pPr>
            <a:r>
              <a:t>读法：农行客户最多、工行AUM最高；邮储6.81亿客户对应18.30万亿AUM，户均浓度低于工行，适合讲“客户分层与资产提升”。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客户经理的真实工作闭环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05 · 从数据识别到复盘迭代，不是单一“拉存款”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606040" cy="301752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06040" cy="566928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① 数据识别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240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2B3A"/>
                </a:solidFill>
                <a:latin typeface="Microsoft YaHei"/>
              </a:defRPr>
            </a:pPr>
            <a:r>
              <a:t>找AUM高但产品少、活跃但资产低、长期不动三类客户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645920"/>
            <a:ext cx="2606040" cy="301752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645920"/>
            <a:ext cx="2606040" cy="566928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737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② 策略分层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23160"/>
            <a:ext cx="2240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2B3A"/>
                </a:solidFill>
                <a:latin typeface="Microsoft YaHei"/>
              </a:defRPr>
            </a:pPr>
            <a:r>
              <a:t>高价值面谈配置，成长客户产品渗透，基础客户防流失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645920"/>
            <a:ext cx="2606040" cy="301752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7336" y="1645920"/>
            <a:ext cx="2606040" cy="566928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37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③ 触达执行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423160"/>
            <a:ext cx="2240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2B3A"/>
                </a:solidFill>
                <a:latin typeface="Microsoft YaHei"/>
              </a:defRPr>
            </a:pPr>
            <a:r>
              <a:t>电话、企微、网点面谈、活动邀约，按偏好选渠道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645920"/>
            <a:ext cx="2606040" cy="301752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4544" y="1645920"/>
            <a:ext cx="2606040" cy="566928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73736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④ 复盘迭代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423160"/>
            <a:ext cx="2240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2B3A"/>
                </a:solidFill>
                <a:latin typeface="Microsoft YaHei"/>
              </a:defRPr>
            </a:pPr>
            <a:r>
              <a:t>看转化率、AUM净增、产品持有数，沉淀有效话术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11201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23B56"/>
                </a:solidFill>
                <a:latin typeface="Microsoft YaHei"/>
              </a:defRPr>
            </a:pPr>
            <a:r>
              <a:t>客户经理的评价指标：AUM净增、钱包份额、交叉销售、活跃度与留存、风险合规。数据不是给客户经理增加负担，而是让每一次触达更准。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SQL模拟案例：5万行客户表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06 · 真实年报负责行业判断，模拟SQL负责经营动作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1148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3B56"/>
                </a:solidFill>
                <a:latin typeface="Microsoft YaHei"/>
              </a:defRPr>
            </a:pPr>
            <a:r>
              <a:t>模拟客户表结构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customer_id：客户号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city：所在城市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open_channel：开户渠道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aum：本行金融资产（元）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product_count：持有产品数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monthly_txn_count：月均交易笔数</a:t>
            </a:r>
          </a:p>
          <a:p>
            <a:pPr>
              <a:spcAft>
                <a:spcPts val="9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active_days：近90天活跃天数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440680" cy="41148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3B56"/>
                </a:solidFill>
                <a:latin typeface="Microsoft YaHei"/>
              </a:defRPr>
            </a:pPr>
            <a:r>
              <a:t>四个业务问题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Q1 客户分档：谁贡献了AUM？</a:t>
            </a:r>
          </a:p>
          <a:p>
            <a:pPr>
              <a:spcAft>
                <a:spcPts val="12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Q2 交叉销售：谁有资产但产品少？</a:t>
            </a:r>
          </a:p>
          <a:p>
            <a:pPr>
              <a:spcAft>
                <a:spcPts val="12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Q3 渠道质量：哪类客户户均更高？</a:t>
            </a:r>
          </a:p>
          <a:p>
            <a:pPr>
              <a:spcAft>
                <a:spcPts val="12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Q4 流失预警：谁最可能离开？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112014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生成规则：2%高价值、18%成长、35%基础、45%低价值；渠道与客户价值关联，保证结果可复现、可讲解。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SQL案例：客户分档与交叉销售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07 · 先用GROUP BY看清资源，再用WHERE找机会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475488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3B56"/>
                </a:solidFill>
                <a:latin typeface="Microsoft YaHei"/>
              </a:defRPr>
            </a:pPr>
            <a:r>
              <a:t>Q1 分档与AUM贡献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D2B3A"/>
                </a:solidFill>
                <a:latin typeface="Microsoft YaHei"/>
              </a:defRPr>
            </a:pPr>
            <a:r>
              <a:t>SELECT CASE WHEN aum&gt;=800000 THEN '高价值' WHEN aum&gt;=200000 THEN '成长' WHEN aum&gt;=20000 THEN '基础' ELSE '低价值' END AS tier, COUNT(*) AS cnt, SUM(aum) AS aum FROM customers GROUP BY tier ORDER BY aum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结果：高价值1018人贡献43.41亿，成长8997人贡献45.01亿。前20%客户贡献约80% AUM。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3B56"/>
                </a:solidFill>
                <a:latin typeface="Microsoft YaHei"/>
              </a:defRPr>
            </a:pPr>
            <a:r>
              <a:t>Q2 交叉销售机会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D2B3A"/>
                </a:solidFill>
                <a:latin typeface="Microsoft YaHei"/>
              </a:defRPr>
            </a:pPr>
            <a:r>
              <a:t>SELECT COUNT(*) AS candidates, AVG(aum) AS avg_aum, SUM(aum) AS aum FROM customers WHERE aum BETWEEN 200000 AND 800000 AND product_count &lt;= 2;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结果：2996位成长客户资产不错但产品覆盖浅，对应15.02亿AUM，是下一轮产品渗透名单。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SQL案例：渠道质量与流失预警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08 · 渠道看入口价值，流失看动作优先级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475488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3B56"/>
                </a:solidFill>
                <a:latin typeface="Microsoft YaHei"/>
              </a:defRPr>
            </a:pPr>
            <a:r>
              <a:t>Q3 渠道质量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代发工资：10,924户，户均34.9万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柜台：17,130户，户均20.5万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线上活动：10,026户，户均22.4万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手机银行：11,920户，户均12.1万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结论：代发是高质量入口，手机银行客群需要运营唤醒与资产提升。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3B56"/>
                </a:solidFill>
                <a:latin typeface="Microsoft YaHei"/>
              </a:defRPr>
            </a:pPr>
            <a:r>
              <a:t>Q4 流失预警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信号组合：活跃天数≤5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月均交易≤2笔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AUM在2万-80万之间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共192位客户需要优先触达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结论：流失不是靠感觉，而是把活跃、交易、资产三个信号组合成名单。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面试讲稿：两分钟讲清项目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09 · 为什么做 → 数据怎么来 → 发现什么 → 对岗位有什么用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201400" cy="41148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1D2B3A"/>
                </a:solidFill>
                <a:latin typeface="Microsoft YaHei"/>
              </a:defRPr>
            </a:pPr>
            <a:r>
              <a:t>我针对银行客户经理岗做了六大行客户经营分析项目。先从工、农、中、建、交、邮储2025年年报和官方业绩发布收集个人客户数、零售AUM、数字渠道和零售利润；发现六家行AUM全部正增长，但零售利润分化很大，工行+43.62%、邮储-47.35%；再把结论落到客户经理动作上，用5万行模拟客户表做SQL分层，识别高价值客户、交叉销售机会和流失信号。这个项目让我理解：客户经理不是单纯拉存款，而是通过客户分层、钱包份额提升、产品渗透和风险控制做经营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201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追问准备：数据来源、SQL真实性、模拟与真实数据区别、入职后先做什么、与岗位匹配点，都写进docs/面试讲稿.md。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给面试官的一句话结论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10 · 真实数据 + 可执行逻辑 = 你不是只会看报告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651760" cy="283464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9C46A"/>
                </a:solidFill>
                <a:latin typeface="Microsoft YaHei"/>
              </a:defRPr>
            </a:pPr>
            <a:r>
              <a:t>AUM是客户信任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客户愿意把钱放在这里，是基础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645920"/>
            <a:ext cx="2651760" cy="283464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9C46A"/>
                </a:solidFill>
                <a:latin typeface="Microsoft YaHei"/>
              </a:defRPr>
            </a:pPr>
            <a:r>
              <a:t>利润是经营质量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8346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规模做大不等于利润做优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216" y="1645920"/>
            <a:ext cx="2651760" cy="283464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2024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9C46A"/>
                </a:solidFill>
                <a:latin typeface="Microsoft YaHei"/>
              </a:defRPr>
            </a:pPr>
            <a:r>
              <a:t>客户经理是闭环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8346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分层、渗透、渠道、流失、合规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8864" y="1645920"/>
            <a:ext cx="2651760" cy="283464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192024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9C46A"/>
                </a:solidFill>
                <a:latin typeface="Microsoft YaHei"/>
              </a:defRPr>
            </a:pPr>
            <a:r>
              <a:t>SQL是把逻辑变成动作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283464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不背代码，讲业务问题与结果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46320"/>
            <a:ext cx="11201400" cy="1371600"/>
          </a:xfrm>
          <a:prstGeom prst="rect">
            <a:avLst/>
          </a:prstGeom>
          <a:solidFill>
            <a:srgbClr val="F3F6F8"/>
          </a:solidFill>
          <a:ln w="9525">
            <a:solidFill>
              <a:srgbClr val="DF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23B56"/>
                </a:solidFill>
                <a:latin typeface="Microsoft YaHei"/>
              </a:defRPr>
            </a:pPr>
            <a:r>
              <a:t>下一步：优化正式简历、整理目标企业秋招信息、按目标城市（杭州/深圳/西安）继续做模拟面试。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9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数据来源与说明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FE6EC"/>
                </a:solidFill>
                <a:latin typeface="Microsoft YaHei"/>
              </a:defRPr>
            </a:pPr>
            <a:r>
              <a:t>附 · 所有真实数据标注来源，模拟数据明确说明用途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六大行2025年度报告/官方业绩发布：工行、农行、中行、建行、交行、邮储官网。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证券时报《私行数据“隐身” 六大行财富管理释放了什么信号？》：六大行零售AUM座次与客户数。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21世纪经济报道/证券时报：零售AUM与利润承压行业汇总。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中国证券报《AUM越做越大 利润持续承压》：2025年六大行零售利润同比数据。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数字渠道：工行移动端月活超2.9亿、农行2.76亿、建行有资产客户4.41亿、中行月活超1亿、交行手机银行5741万。</a:t>
            </a:r>
          </a:p>
          <a:p>
            <a:pPr>
              <a:spcAft>
                <a:spcPts val="1000"/>
              </a:spcAft>
              <a:defRPr sz="1400">
                <a:solidFill>
                  <a:srgbClr val="1D2B3A"/>
                </a:solidFill>
                <a:latin typeface="Microsoft YaHei"/>
              </a:defRPr>
            </a:pPr>
            <a:r>
              <a:t>口径说明：AUM包含存款、理财、基金、保险、贵金属等；部分“约/超”为保守表述，详见网页版来源清单。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06440"/>
            <a:ext cx="11201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3B56"/>
                </a:solidFill>
                <a:latin typeface="Microsoft YaHei"/>
              </a:defRPr>
            </a:pPr>
            <a:r>
              <a:t>完整文件：index.html（网页版）、六大行客户经营分析报告.pdf（PDF版）、sql/（可复现SQL案例）。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C7A89"/>
                </a:solidFill>
                <a:latin typeface="Microsoft YaHe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谢谢，欢迎提问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E9C46A"/>
                </a:solidFill>
                <a:latin typeface="Microsoft YaHei"/>
              </a:defRPr>
            </a:pPr>
            <a:r>
              <a:t>飞土木 · 用真实数据与可执行逻辑讲清楚银行客户经营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